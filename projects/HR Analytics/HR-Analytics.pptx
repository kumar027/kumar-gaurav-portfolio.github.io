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61" r:id="rId2"/>
    <p:sldId id="257" r:id="rId3"/>
    <p:sldId id="265" r:id="rId4"/>
    <p:sldId id="256" r:id="rId5"/>
    <p:sldId id="264" r:id="rId6"/>
    <p:sldId id="266" r:id="rId7"/>
    <p:sldId id="267" r:id="rId8"/>
    <p:sldId id="263" r:id="rId9"/>
    <p:sldId id="259" r:id="rId10"/>
    <p:sldId id="268" r:id="rId11"/>
    <p:sldId id="269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mar Gaurav" initials="KG" lastIdx="2" clrIdx="0">
    <p:extLst>
      <p:ext uri="{19B8F6BF-5375-455C-9EA6-DF929625EA0E}">
        <p15:presenceInfo xmlns:p15="http://schemas.microsoft.com/office/powerpoint/2012/main" userId="cc066235bc55a3b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53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7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08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67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62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428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247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67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59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62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2BACF-311E-4EDB-BC4C-304222AB5C8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7784F17-DC8E-4A16-BB88-BD98743AE74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17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9ABEA73-D07E-4009-8DF6-BD7595533C80}"/>
              </a:ext>
            </a:extLst>
          </p:cNvPr>
          <p:cNvSpPr txBox="1"/>
          <p:nvPr/>
        </p:nvSpPr>
        <p:spPr>
          <a:xfrm>
            <a:off x="1771049" y="704222"/>
            <a:ext cx="408111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 Analysis for</a:t>
            </a:r>
            <a:r>
              <a:rPr lang="en-GB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Recruiting Firm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est Recruitment Agencies and top 10 IT Recruitment Agencies in Bangalore?">
            <a:extLst>
              <a:ext uri="{FF2B5EF4-FFF2-40B4-BE49-F238E27FC236}">
                <a16:creationId xmlns:a16="http://schemas.microsoft.com/office/drawing/2014/main" id="{5529FE21-3C7F-402E-8836-7CCB54013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796" y="761972"/>
            <a:ext cx="5707779" cy="455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2559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1AAF0D-1CF3-463E-8C07-5AC5877C13DE}"/>
              </a:ext>
            </a:extLst>
          </p:cNvPr>
          <p:cNvSpPr txBox="1"/>
          <p:nvPr/>
        </p:nvSpPr>
        <p:spPr>
          <a:xfrm>
            <a:off x="2655771" y="20272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4000" dirty="0"/>
              <a:t>Company Profile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60682-D062-4066-B585-7337B6CA5D05}"/>
              </a:ext>
            </a:extLst>
          </p:cNvPr>
          <p:cNvSpPr txBox="1"/>
          <p:nvPr/>
        </p:nvSpPr>
        <p:spPr>
          <a:xfrm>
            <a:off x="506330" y="1004232"/>
            <a:ext cx="1053084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 –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Triedge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Pvt.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in 2012, based in New Delhi, India.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operates as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service provider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individuals, start-ups, and enterprises.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providing quality employee without any sourcing fee.</a:t>
            </a:r>
          </a:p>
        </p:txBody>
      </p:sp>
      <p:pic>
        <p:nvPicPr>
          <p:cNvPr id="6" name="Picture 2" descr="triedge.in | LinkedIn">
            <a:extLst>
              <a:ext uri="{FF2B5EF4-FFF2-40B4-BE49-F238E27FC236}">
                <a16:creationId xmlns:a16="http://schemas.microsoft.com/office/drawing/2014/main" id="{5A41D090-D7D3-4E5D-B545-640FB1CBF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729" y="111259"/>
            <a:ext cx="1703217" cy="99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8FDAF1-70A8-4456-B12F-C63F3DD81589}"/>
              </a:ext>
            </a:extLst>
          </p:cNvPr>
          <p:cNvSpPr txBox="1"/>
          <p:nvPr/>
        </p:nvSpPr>
        <p:spPr>
          <a:xfrm>
            <a:off x="357439" y="3800190"/>
            <a:ext cx="11477122" cy="2334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Mission: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 ambitious professionals and organizations by providing innovative and effective career platforms, talent acquisition, training, and HR services, aiming to bridge skill gaps and foster growth.</a:t>
            </a:r>
          </a:p>
        </p:txBody>
      </p:sp>
    </p:spTree>
    <p:extLst>
      <p:ext uri="{BB962C8B-B14F-4D97-AF65-F5344CB8AC3E}">
        <p14:creationId xmlns:p14="http://schemas.microsoft.com/office/powerpoint/2010/main" val="633312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EF0E96-2FD6-46EB-9B29-B2F13D879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13" y="4097370"/>
            <a:ext cx="11524964" cy="20321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38CFA-F6B6-47AD-810B-050ABFF25E5C}"/>
              </a:ext>
            </a:extLst>
          </p:cNvPr>
          <p:cNvSpPr txBox="1"/>
          <p:nvPr/>
        </p:nvSpPr>
        <p:spPr>
          <a:xfrm>
            <a:off x="4348635" y="-96250"/>
            <a:ext cx="3494729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38B8E-59A1-4A8F-920B-4AC3A30FD911}"/>
              </a:ext>
            </a:extLst>
          </p:cNvPr>
          <p:cNvSpPr txBox="1"/>
          <p:nvPr/>
        </p:nvSpPr>
        <p:spPr>
          <a:xfrm>
            <a:off x="429613" y="1257069"/>
            <a:ext cx="2352373" cy="2369880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Recruitment Services: </a:t>
            </a:r>
          </a:p>
          <a:p>
            <a:pPr algn="just"/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Manpower and staffing solutions of various industries such as IT, healthcare, manufacturing, retail and real estate.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D02A2-D1FE-4085-B951-11E26D6E663E}"/>
              </a:ext>
            </a:extLst>
          </p:cNvPr>
          <p:cNvSpPr txBox="1"/>
          <p:nvPr/>
        </p:nvSpPr>
        <p:spPr>
          <a:xfrm>
            <a:off x="2803841" y="1129649"/>
            <a:ext cx="3378783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457200" algn="ctr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 Development / Training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45720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Resume Edge: Bespoke resume construction and improvement.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5720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Interview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SkillUp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742950" marR="45720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Corporate Training</a:t>
            </a:r>
          </a:p>
          <a:p>
            <a:pPr marL="742950" marR="45720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Workshops &amp; Webinars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38B0A-A258-48CB-8B27-ADDA64B1BB5A}"/>
              </a:ext>
            </a:extLst>
          </p:cNvPr>
          <p:cNvSpPr txBox="1"/>
          <p:nvPr/>
        </p:nvSpPr>
        <p:spPr>
          <a:xfrm>
            <a:off x="5890660" y="1072403"/>
            <a:ext cx="293570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Career Solutions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45720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InternEdge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Using this site students and graduates can find internships.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5720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Campus Jobs</a:t>
            </a:r>
          </a:p>
          <a:p>
            <a:pPr marL="742950" marR="45720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Career Coaching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CC95A-6066-40B9-92D3-4A27793C3419}"/>
              </a:ext>
            </a:extLst>
          </p:cNvPr>
          <p:cNvSpPr txBox="1"/>
          <p:nvPr/>
        </p:nvSpPr>
        <p:spPr>
          <a:xfrm>
            <a:off x="8479857" y="1257069"/>
            <a:ext cx="343332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45720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Knowledge &amp; Networking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45720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Readers Galleria &amp;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Triedge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Mantra: Centers of information where readers get insights, articles and career guidelines.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0699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D08094-A598-4D5A-941D-6D91D89CC113}"/>
              </a:ext>
            </a:extLst>
          </p:cNvPr>
          <p:cNvSpPr txBox="1"/>
          <p:nvPr/>
        </p:nvSpPr>
        <p:spPr>
          <a:xfrm>
            <a:off x="893546" y="1396487"/>
            <a:ext cx="9713494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measure trends in a job market Identify demand trends in various roles, skill set and geographical location.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Data sourcing from job portals like Naukri,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LinkedIn.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Extract, Transform and Load data into a master table.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categorize, and organize raw job posting data to make it structured, and easy to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AD3F5-4BBB-4AE3-9E39-0FACBCBC2498}"/>
              </a:ext>
            </a:extLst>
          </p:cNvPr>
          <p:cNvSpPr txBox="1"/>
          <p:nvPr/>
        </p:nvSpPr>
        <p:spPr>
          <a:xfrm>
            <a:off x="-154005" y="41212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Sourcing And Research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D4923-05B8-4BFC-B37D-C55E2D983989}"/>
              </a:ext>
            </a:extLst>
          </p:cNvPr>
          <p:cNvSpPr txBox="1"/>
          <p:nvPr/>
        </p:nvSpPr>
        <p:spPr>
          <a:xfrm>
            <a:off x="893546" y="412124"/>
            <a:ext cx="3080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</p:txBody>
      </p:sp>
    </p:spTree>
    <p:extLst>
      <p:ext uri="{BB962C8B-B14F-4D97-AF65-F5344CB8AC3E}">
        <p14:creationId xmlns:p14="http://schemas.microsoft.com/office/powerpoint/2010/main" val="278121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C89702-4124-4760-8F12-A317FDEDFFB9}"/>
              </a:ext>
            </a:extLst>
          </p:cNvPr>
          <p:cNvSpPr txBox="1"/>
          <p:nvPr/>
        </p:nvSpPr>
        <p:spPr>
          <a:xfrm>
            <a:off x="3330342" y="354349"/>
            <a:ext cx="5852159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 CHART OF THE PROJECT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76BFE8-CE7A-49A7-8941-E35B176B47D5}"/>
              </a:ext>
            </a:extLst>
          </p:cNvPr>
          <p:cNvSpPr/>
          <p:nvPr/>
        </p:nvSpPr>
        <p:spPr>
          <a:xfrm>
            <a:off x="1453413" y="1713299"/>
            <a:ext cx="1876158" cy="10491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Job Portals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AF787-CEF1-4268-88D1-0F228AF0568D}"/>
              </a:ext>
            </a:extLst>
          </p:cNvPr>
          <p:cNvSpPr/>
          <p:nvPr/>
        </p:nvSpPr>
        <p:spPr>
          <a:xfrm>
            <a:off x="4571229" y="1761424"/>
            <a:ext cx="1876158" cy="10491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Data Template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14A473-9922-41EA-9392-D3C7D8B6BD83}"/>
              </a:ext>
            </a:extLst>
          </p:cNvPr>
          <p:cNvSpPr/>
          <p:nvPr/>
        </p:nvSpPr>
        <p:spPr>
          <a:xfrm>
            <a:off x="8150223" y="1761424"/>
            <a:ext cx="1876158" cy="10491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Collect Collection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B8F4EB-ACAB-4BB6-8C7B-DA626D6E2AD7}"/>
              </a:ext>
            </a:extLst>
          </p:cNvPr>
          <p:cNvSpPr/>
          <p:nvPr/>
        </p:nvSpPr>
        <p:spPr>
          <a:xfrm>
            <a:off x="4656253" y="3835668"/>
            <a:ext cx="1876158" cy="10491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Analysis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6746A-8A5C-41FE-89DB-E54F8FA7F6D4}"/>
              </a:ext>
            </a:extLst>
          </p:cNvPr>
          <p:cNvSpPr/>
          <p:nvPr/>
        </p:nvSpPr>
        <p:spPr>
          <a:xfrm>
            <a:off x="8283372" y="3835668"/>
            <a:ext cx="1876158" cy="10491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Cleaning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B08723-1DE9-4BF1-AA57-6048241B7735}"/>
              </a:ext>
            </a:extLst>
          </p:cNvPr>
          <p:cNvSpPr/>
          <p:nvPr/>
        </p:nvSpPr>
        <p:spPr>
          <a:xfrm>
            <a:off x="1453413" y="3835668"/>
            <a:ext cx="1876158" cy="10491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Dashboard Generation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DCBE55E-338E-4B7D-B049-9792D9D62CE6}"/>
              </a:ext>
            </a:extLst>
          </p:cNvPr>
          <p:cNvSpPr/>
          <p:nvPr/>
        </p:nvSpPr>
        <p:spPr>
          <a:xfrm>
            <a:off x="6831980" y="2161704"/>
            <a:ext cx="702644" cy="3561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7D0D68B-7CFF-4008-89FB-51AFF6345611}"/>
              </a:ext>
            </a:extLst>
          </p:cNvPr>
          <p:cNvSpPr/>
          <p:nvPr/>
        </p:nvSpPr>
        <p:spPr>
          <a:xfrm>
            <a:off x="3610308" y="2127186"/>
            <a:ext cx="702644" cy="3561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150722B-C70D-4EA2-ABC9-A426CE8F4F62}"/>
              </a:ext>
            </a:extLst>
          </p:cNvPr>
          <p:cNvSpPr/>
          <p:nvPr/>
        </p:nvSpPr>
        <p:spPr>
          <a:xfrm>
            <a:off x="8672361" y="3051209"/>
            <a:ext cx="404261" cy="67376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0DA3B585-9CC4-40FD-9ED3-DDFD003BD704}"/>
              </a:ext>
            </a:extLst>
          </p:cNvPr>
          <p:cNvSpPr/>
          <p:nvPr/>
        </p:nvSpPr>
        <p:spPr>
          <a:xfrm>
            <a:off x="6959063" y="4158111"/>
            <a:ext cx="702644" cy="356135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A17609B-B9EA-478E-AC4B-D5CDF7415F98}"/>
              </a:ext>
            </a:extLst>
          </p:cNvPr>
          <p:cNvSpPr/>
          <p:nvPr/>
        </p:nvSpPr>
        <p:spPr>
          <a:xfrm>
            <a:off x="3562950" y="4196612"/>
            <a:ext cx="702644" cy="356135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543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846D43-9CBC-47B3-ACC5-DF747986DA72}"/>
              </a:ext>
            </a:extLst>
          </p:cNvPr>
          <p:cNvSpPr txBox="1"/>
          <p:nvPr/>
        </p:nvSpPr>
        <p:spPr>
          <a:xfrm>
            <a:off x="2666198" y="29532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Template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AE64C-38E2-4FC9-9841-5AE20EE6356D}"/>
              </a:ext>
            </a:extLst>
          </p:cNvPr>
          <p:cNvSpPr txBox="1"/>
          <p:nvPr/>
        </p:nvSpPr>
        <p:spPr>
          <a:xfrm>
            <a:off x="462698" y="1745718"/>
            <a:ext cx="572634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 , Job portal Name, Latest Posting Link</a:t>
            </a:r>
          </a:p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Location, Company</a:t>
            </a:r>
          </a:p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Job Title, Job Type, </a:t>
            </a:r>
          </a:p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 details of recruiter(like Contact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o., Email id,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Linkedin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Recruiter details</a:t>
            </a:r>
          </a:p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Founder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’s or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CEO details</a:t>
            </a:r>
          </a:p>
          <a:p>
            <a:pPr marL="342900" marR="457200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Social Media Pages of the company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41636-D82A-4086-8F13-B6FB9F43F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809" y="1313408"/>
            <a:ext cx="5560259" cy="4234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2061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846D43-9CBC-47B3-ACC5-DF747986DA72}"/>
              </a:ext>
            </a:extLst>
          </p:cNvPr>
          <p:cNvSpPr txBox="1"/>
          <p:nvPr/>
        </p:nvSpPr>
        <p:spPr>
          <a:xfrm>
            <a:off x="2666197" y="835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b="1" dirty="0">
                <a:effectLst/>
                <a:ea typeface="Times New Roman" panose="02020603050405020304" pitchFamily="18" charset="0"/>
              </a:rPr>
              <a:t>Data Collection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AE64C-38E2-4FC9-9841-5AE20EE6356D}"/>
              </a:ext>
            </a:extLst>
          </p:cNvPr>
          <p:cNvSpPr txBox="1"/>
          <p:nvPr/>
        </p:nvSpPr>
        <p:spPr>
          <a:xfrm>
            <a:off x="446654" y="816909"/>
            <a:ext cx="105350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mainly by top job sites like naukri.com, LinkedIn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considered well known websites of employment and career information. The postings were read in-depth and the data was recorded using the prepared data template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was ensured through the verification of the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were cross-checked to ascertain data correctness and multiple listings were removed.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036B1-5B36-4C81-8EDC-3EC638C9EE1E}"/>
              </a:ext>
            </a:extLst>
          </p:cNvPr>
          <p:cNvSpPr txBox="1"/>
          <p:nvPr/>
        </p:nvSpPr>
        <p:spPr>
          <a:xfrm>
            <a:off x="2568342" y="35200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b="1" dirty="0">
                <a:effectLst/>
                <a:ea typeface="Times New Roman" panose="02020603050405020304" pitchFamily="18" charset="0"/>
              </a:rPr>
              <a:t>Data </a:t>
            </a:r>
            <a:r>
              <a:rPr lang="en-US" sz="3600" dirty="0">
                <a:ea typeface="Times New Roman" panose="02020603050405020304" pitchFamily="18" charset="0"/>
              </a:rPr>
              <a:t>Analysis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A0E51-A6B2-45C6-BFEB-3A9A1C36948E}"/>
              </a:ext>
            </a:extLst>
          </p:cNvPr>
          <p:cNvSpPr txBox="1"/>
          <p:nvPr/>
        </p:nvSpPr>
        <p:spPr>
          <a:xfrm>
            <a:off x="828457" y="4253363"/>
            <a:ext cx="105350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frequent job occupations and destinations were identified with the help of the frequency distributions.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was carried out to determine the urge of freshers relative to intern at various platforms.</a:t>
            </a:r>
          </a:p>
        </p:txBody>
      </p:sp>
    </p:spTree>
    <p:extLst>
      <p:ext uri="{BB962C8B-B14F-4D97-AF65-F5344CB8AC3E}">
        <p14:creationId xmlns:p14="http://schemas.microsoft.com/office/powerpoint/2010/main" val="1008290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654BA-9678-45A7-882F-073DD2BB7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377"/>
            <a:ext cx="12191999" cy="6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82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C5BD62-9B32-4CB8-A8A6-A78FEF355749}"/>
              </a:ext>
            </a:extLst>
          </p:cNvPr>
          <p:cNvSpPr txBox="1"/>
          <p:nvPr/>
        </p:nvSpPr>
        <p:spPr>
          <a:xfrm>
            <a:off x="3410220" y="208857"/>
            <a:ext cx="689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Findings And Insight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F004A-6E2B-4CCD-ACA2-E23026A1C009}"/>
              </a:ext>
            </a:extLst>
          </p:cNvPr>
          <p:cNvSpPr txBox="1"/>
          <p:nvPr/>
        </p:nvSpPr>
        <p:spPr>
          <a:xfrm>
            <a:off x="276587" y="1261188"/>
            <a:ext cx="11638825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KPIs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Total postings: 1242 have been recorded in the data set.</a:t>
            </a:r>
          </a:p>
          <a:p>
            <a:pPr marL="457200" marR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Uniquely Separated Departments Recruiting: The involvement of 325 departments clearly demonstrates the rationale of recruitments being taken up by a lot of diversity.</a:t>
            </a:r>
          </a:p>
          <a:p>
            <a:pPr marL="457200" marR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Uniqueness of Locations: 160 various locations where there are jobs available.</a:t>
            </a:r>
          </a:p>
          <a:p>
            <a:pPr marL="457200" marR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Top State by Number of Job Postings: Maharashtra is the top.</a:t>
            </a:r>
          </a:p>
        </p:txBody>
      </p:sp>
    </p:spTree>
    <p:extLst>
      <p:ext uri="{BB962C8B-B14F-4D97-AF65-F5344CB8AC3E}">
        <p14:creationId xmlns:p14="http://schemas.microsoft.com/office/powerpoint/2010/main" val="25108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C5BD62-9B32-4CB8-A8A6-A78FEF355749}"/>
              </a:ext>
            </a:extLst>
          </p:cNvPr>
          <p:cNvSpPr txBox="1"/>
          <p:nvPr/>
        </p:nvSpPr>
        <p:spPr>
          <a:xfrm>
            <a:off x="3410220" y="208857"/>
            <a:ext cx="689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Findings And Insight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F004A-6E2B-4CCD-ACA2-E23026A1C009}"/>
              </a:ext>
            </a:extLst>
          </p:cNvPr>
          <p:cNvSpPr txBox="1"/>
          <p:nvPr/>
        </p:nvSpPr>
        <p:spPr>
          <a:xfrm>
            <a:off x="667683" y="1259175"/>
            <a:ext cx="1085663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trend of job postings is going in downward direction between June and July.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wanted functions remain digital (Marketing, Data Analyst) and the traditional functions Sales, HR.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hiring is focused on the entry-level indicating that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Triedge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targeting the young talent pools.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employment is mostly concentrated in Maharashtra, Karnataka, Tamil Nadu, Delhi, and Pan-India meaning that these are the main centers of jobs.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77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C5BD62-9B32-4CB8-A8A6-A78FEF355749}"/>
              </a:ext>
            </a:extLst>
          </p:cNvPr>
          <p:cNvSpPr txBox="1"/>
          <p:nvPr/>
        </p:nvSpPr>
        <p:spPr>
          <a:xfrm>
            <a:off x="3063709" y="382111"/>
            <a:ext cx="689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F004A-6E2B-4CCD-ACA2-E23026A1C009}"/>
              </a:ext>
            </a:extLst>
          </p:cNvPr>
          <p:cNvSpPr txBox="1"/>
          <p:nvPr/>
        </p:nvSpPr>
        <p:spPr>
          <a:xfrm>
            <a:off x="667683" y="1259175"/>
            <a:ext cx="10856633" cy="40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focus on Digital and Sales Roles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track recruiter activity and initiate a hiring drive or a hiring incentive every month to have consistent posting.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57 percent of the assignments belonging to freshers.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good markets are Maharashtra, Karnataka and Pan India company should explore into tier-2 and tier-3 cities in which the competition is not so intense but the demand is on the rise.</a:t>
            </a:r>
          </a:p>
        </p:txBody>
      </p:sp>
    </p:spTree>
    <p:extLst>
      <p:ext uri="{BB962C8B-B14F-4D97-AF65-F5344CB8AC3E}">
        <p14:creationId xmlns:p14="http://schemas.microsoft.com/office/powerpoint/2010/main" val="3005208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A61AC-109E-4D15-B10E-46DE27D4EBE1}"/>
              </a:ext>
            </a:extLst>
          </p:cNvPr>
          <p:cNvSpPr txBox="1"/>
          <p:nvPr/>
        </p:nvSpPr>
        <p:spPr>
          <a:xfrm>
            <a:off x="2171700" y="2298700"/>
            <a:ext cx="820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02415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15210</TotalTime>
  <Words>644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Rockwell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Srajan soni</dc:creator>
  <cp:lastModifiedBy>Kumar Gaurav</cp:lastModifiedBy>
  <cp:revision>58</cp:revision>
  <dcterms:created xsi:type="dcterms:W3CDTF">2025-07-07T14:28:00Z</dcterms:created>
  <dcterms:modified xsi:type="dcterms:W3CDTF">2025-11-07T08:21:21Z</dcterms:modified>
</cp:coreProperties>
</file>